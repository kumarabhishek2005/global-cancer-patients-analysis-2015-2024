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37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247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UMARabhishek2005/Global-Cancer-Patients-Analysis-2015-2024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54864"/>
          </a:xfrm>
          <a:prstGeom prst="rect">
            <a:avLst/>
          </a:prstGeom>
          <a:solidFill>
            <a:srgbClr val="3FCFC1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457200"/>
            <a:ext cx="2560320" cy="2560320"/>
          </a:xfrm>
          <a:prstGeom prst="ellipse">
            <a:avLst/>
          </a:prstGeom>
          <a:solidFill>
            <a:srgbClr val="0B6E70">
              <a:alpha val="20000"/>
            </a:srgbClr>
          </a:solidFill>
          <a:ln w="19050">
            <a:solidFill>
              <a:srgbClr val="0E9AA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0" y="822960"/>
            <a:ext cx="1828800" cy="1828800"/>
          </a:xfrm>
          <a:prstGeom prst="ellipse">
            <a:avLst/>
          </a:prstGeom>
          <a:solidFill>
            <a:srgbClr val="0E9AA7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0584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CANCER PATIENTS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1645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300" dirty="0">
                <a:solidFill>
                  <a:srgbClr val="3FCF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65760" y="2331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E9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 – 2024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5029200" cy="36576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30632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0F7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data analytics project using Python · SQL · Power BI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357530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Presented by: Abhishek </a:t>
            </a:r>
            <a:r>
              <a:rPr lang="en-US" sz="2800" dirty="0" err="1">
                <a:solidFill>
                  <a:schemeClr val="bg1"/>
                </a:solidFill>
              </a:rPr>
              <a:t>kumar</a:t>
            </a:r>
            <a:endParaRPr lang="en-US" sz="28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914400"/>
          </a:xfrm>
          <a:prstGeom prst="rect">
            <a:avLst/>
          </a:prstGeom>
          <a:solidFill>
            <a:srgbClr val="E2F0F1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70"/>
                </a:solidFill>
              </a:rPr>
              <a:t> Objective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</a:rPr>
              <a:t>Analyze 50,000 global cancer patient records to uncover patterns in cancer types, severity, treatment costs, survival rates, and impact of lifestyle factors — enabling data-driven healthcare insights.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031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2103120"/>
            <a:ext cx="2651760" cy="45720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 Python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</a:rPr>
              <a:t>Data cleaning, feature engineering, EDA with Pandas, NumPy, Seaborn, Matplotlib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54680" y="21031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2103120"/>
            <a:ext cx="2651760" cy="45720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SQL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</a:rPr>
              <a:t>16 analytical queries — aggregations, window functions, subqueries in PostgreSQL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03120"/>
            <a:ext cx="265176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103120"/>
            <a:ext cx="2651760" cy="457200"/>
          </a:xfrm>
          <a:prstGeom prst="rect">
            <a:avLst/>
          </a:prstGeom>
          <a:solidFill>
            <a:srgbClr val="3FCFC1"/>
          </a:solidFill>
          <a:ln/>
        </p:spPr>
      </p:sp>
      <p:sp>
        <p:nvSpPr>
          <p:cNvPr id="17" name="Text 15"/>
          <p:cNvSpPr/>
          <p:nvPr/>
        </p:nvSpPr>
        <p:spPr>
          <a:xfrm>
            <a:off x="6035040" y="2103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Power BI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265176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2137"/>
                </a:solidFill>
              </a:rPr>
              <a:t>Interactive dashboard with KPI cards, maps, trend visuals, and drill-down filters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DATASET &amp; METHODOLOGY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79424"/>
            <a:ext cx="4114800" cy="37490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005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CFC1"/>
                </a:solidFill>
              </a:rPr>
              <a:t> Dataset Highlights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56411"/>
            <a:ext cx="3657600" cy="2630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50,000 patient records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10 countries / regions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8 cancer types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5 cancer stages (0–IV)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10-year span: 2015–2024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15 feature columns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~$52,467 avg treatment cost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0F7F8"/>
                </a:solidFill>
              </a:rPr>
              <a:t>3 gender categories</a:t>
            </a:r>
            <a:endParaRPr lang="en-US" sz="16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114800" cy="37490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005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CFC1"/>
                </a:solidFill>
              </a:rPr>
              <a:t> Methodology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20040" cy="32004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463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138928" y="1463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7F8"/>
                </a:solidFill>
              </a:rPr>
              <a:t>Data Collection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38928" y="16459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Global cancer patient CSV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2084832"/>
            <a:ext cx="320040" cy="32004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20848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138928" y="20848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7F8"/>
                </a:solidFill>
              </a:rPr>
              <a:t>Data Cleaning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38928" y="22677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Remove duplicates, impute nulls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706624"/>
            <a:ext cx="320040" cy="32004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27066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138928" y="27066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7F8"/>
                </a:solidFill>
              </a:rPr>
              <a:t>Feature Engg.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38928" y="288950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Age, cost, year group buckets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328416"/>
            <a:ext cx="320040" cy="32004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328416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38928" y="33284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7F8"/>
                </a:solidFill>
              </a:rPr>
              <a:t>SQL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38928" y="351129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16 targeted queries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3950208"/>
            <a:ext cx="320040" cy="320040"/>
          </a:xfrm>
          <a:prstGeom prst="ellipse">
            <a:avLst/>
          </a:prstGeom>
          <a:solidFill>
            <a:srgbClr val="0E9AA7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05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138928" y="39502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7F8"/>
                </a:solidFill>
              </a:rPr>
              <a:t>Visualization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41330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Power BI interactive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INSIGHTS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651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73152" cy="169164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00584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  Lung Cancer #1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Lung cancer accounts for the highest case count globally across all 10 countries and 10 years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914400"/>
            <a:ext cx="2651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54680" y="914400"/>
            <a:ext cx="73152" cy="1691640"/>
          </a:xfrm>
          <a:prstGeom prst="rect">
            <a:avLst/>
          </a:prstGeom>
          <a:solidFill>
            <a:srgbClr val="E05C5C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00584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  Stage Matters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13716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Stage IV patients survive ~2.8 yrs avg vs. ~8.1 yrs for Stage 0 patients — a 65% reduction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651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914400"/>
            <a:ext cx="73152" cy="16916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00584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 Cost Burden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72200" y="137160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Average treatment cost is ~$52,467 USD globally; some cancer types exceed $60K per patient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834640"/>
            <a:ext cx="2651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834640"/>
            <a:ext cx="73152" cy="169164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9260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  Pollution Risk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Higher air pollution exposure scores show a positive correlation with severity index scores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154680" y="2834640"/>
            <a:ext cx="2651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2834640"/>
            <a:ext cx="73152" cy="1691640"/>
          </a:xfrm>
          <a:prstGeom prst="rect">
            <a:avLst/>
          </a:prstGeom>
          <a:solidFill>
            <a:srgbClr val="3FCFC1"/>
          </a:solidFill>
          <a:ln/>
        </p:spPr>
      </p:sp>
      <p:sp>
        <p:nvSpPr>
          <p:cNvPr id="22" name="Text 20"/>
          <p:cNvSpPr/>
          <p:nvPr/>
        </p:nvSpPr>
        <p:spPr>
          <a:xfrm>
            <a:off x="3291840" y="29260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  Equal Gender Split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91840" y="329184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Near-equal distribution: Male 33.6% | Female 33.4% | Other 33% — reducing gender bias in analysis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834640"/>
            <a:ext cx="2651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2834640"/>
            <a:ext cx="73152" cy="169164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29260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  Liver = High Severity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72200" y="3291840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Liver cancer has the highest average Target Severity Score among all 8 cancer types analyzed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SQL ANALYSIS — 16 QUERIES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830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4114800" cy="384048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Patient Demographics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399032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1. Total patient count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2. Gender distribution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3. Cancer type frequency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4. Stage distribution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830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960120"/>
            <a:ext cx="4114800" cy="384048"/>
          </a:xfrm>
          <a:prstGeom prst="rect">
            <a:avLst/>
          </a:prstGeom>
          <a:solidFill>
            <a:srgbClr val="3FCFC1"/>
          </a:solidFill>
          <a:ln/>
        </p:spPr>
      </p:sp>
      <p:sp>
        <p:nvSpPr>
          <p:cNvPr id="10" name="Text 8"/>
          <p:cNvSpPr/>
          <p:nvPr/>
        </p:nvSpPr>
        <p:spPr>
          <a:xfrm>
            <a:off x="4800600" y="9601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Cost &amp; Severity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399032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1. Avg severity by type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2. Highest cost by type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3. Top 5 expensive patients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4. Above-avg cost (subquery)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4114800" cy="17830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971800"/>
            <a:ext cx="4114800" cy="38404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9718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Geographic Analysis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3410712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1. Top 10 countries by cases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2. Countries by severity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3. Countries by cost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971800"/>
            <a:ext cx="4114800" cy="17830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71800"/>
            <a:ext cx="4114800" cy="384048"/>
          </a:xfrm>
          <a:prstGeom prst="rect">
            <a:avLst/>
          </a:prstGeom>
          <a:solidFill>
            <a:srgbClr val="E05C5C"/>
          </a:solidFill>
          <a:ln/>
        </p:spPr>
      </p:sp>
      <p:sp>
        <p:nvSpPr>
          <p:cNvPr id="18" name="Text 16"/>
          <p:cNvSpPr/>
          <p:nvPr/>
        </p:nvSpPr>
        <p:spPr>
          <a:xfrm>
            <a:off x="4800600" y="297180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Advanced Analytics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3410712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1. Survival by stage &amp; type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2. Obesity → severity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3. Air pollution → severity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4. Window function RANK()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PYTHON — DATA CLEANING &amp; FEATURE ENGINEERING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64008" cy="658368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509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70"/>
                </a:solidFill>
              </a:rPr>
              <a:t>1. Load Data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161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pd.read_csv() — 50,000 rows × 15 columns loaded and profiled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691640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691640"/>
            <a:ext cx="64008" cy="658368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7282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70"/>
                </a:solidFill>
              </a:rPr>
              <a:t>2. Understand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9933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.shape, .info(), .describe(), .isnull().sum(), .duplicated().sum()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468880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468880"/>
            <a:ext cx="64008" cy="658368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054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70"/>
                </a:solidFill>
              </a:rPr>
              <a:t>3. Remove Dups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770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drop_duplicates() — removed exact duplicate rows from dataset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3246120"/>
            <a:ext cx="85953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3246120"/>
            <a:ext cx="64008" cy="658368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28269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6E70"/>
                </a:solidFill>
              </a:rPr>
              <a:t>4. Impute Nulls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35478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fillna(median, numeric_only=True) — median used for skew-robustness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6E70"/>
                </a:solidFill>
              </a:rPr>
              <a:t>⚙️ Feature Engineering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43484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</a:rPr>
              <a:t>Age_Group: Young / Adult / Middle Age / Senior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</a:rPr>
              <a:t>Cost_Category: Low / Medium / High / Very High (quartile)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</a:rPr>
              <a:t>Year_Group: 2015–17 / 2018–20 / 2021–24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0D2137"/>
                </a:solidFill>
              </a:rPr>
              <a:t>Cancer_Category: Top 5 types vs. Others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3FCFC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2137"/>
                </a:solidFill>
              </a:rPr>
              <a:t>POWER BI INTERACTIVE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10972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365760" cy="365760"/>
          </a:xfrm>
          <a:prstGeom prst="ellipse">
            <a:avLst/>
          </a:prstGeom>
          <a:solidFill>
            <a:srgbClr val="3FCFC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0789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FC1"/>
                </a:solidFill>
              </a:rPr>
              <a:t>KPI Cards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Total Patients · Avg Cost · Avg Severity displayed as headline metrics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005840"/>
            <a:ext cx="4114800" cy="10972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00600" y="1097280"/>
            <a:ext cx="365760" cy="365760"/>
          </a:xfrm>
          <a:prstGeom prst="ellipse">
            <a:avLst/>
          </a:prstGeom>
          <a:solidFill>
            <a:srgbClr val="3FCFC1"/>
          </a:solidFill>
          <a:ln/>
        </p:spPr>
      </p:sp>
      <p:sp>
        <p:nvSpPr>
          <p:cNvPr id="10" name="Text 8"/>
          <p:cNvSpPr/>
          <p:nvPr/>
        </p:nvSpPr>
        <p:spPr>
          <a:xfrm>
            <a:off x="5257800" y="10789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FC1"/>
                </a:solidFill>
              </a:rPr>
              <a:t>Cancer Type Chart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4630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Bar chart comparing case count and avg severity per cancer type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114800" cy="10972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395728"/>
            <a:ext cx="365760" cy="365760"/>
          </a:xfrm>
          <a:prstGeom prst="ellipse">
            <a:avLst/>
          </a:prstGeom>
          <a:solidFill>
            <a:srgbClr val="3FCFC1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377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FC1"/>
                </a:solidFill>
              </a:rPr>
              <a:t>Stage Distribution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276148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Donut/pie showing patient share across 5 cancer stages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304288"/>
            <a:ext cx="4114800" cy="10972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00600" y="2395728"/>
            <a:ext cx="365760" cy="365760"/>
          </a:xfrm>
          <a:prstGeom prst="ellipse">
            <a:avLst/>
          </a:prstGeom>
          <a:solidFill>
            <a:srgbClr val="3FCFC1"/>
          </a:solidFill>
          <a:ln/>
        </p:spPr>
      </p:sp>
      <p:sp>
        <p:nvSpPr>
          <p:cNvPr id="18" name="Text 16"/>
          <p:cNvSpPr/>
          <p:nvPr/>
        </p:nvSpPr>
        <p:spPr>
          <a:xfrm>
            <a:off x="5257800" y="2377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FC1"/>
                </a:solidFill>
              </a:rPr>
              <a:t>Country Map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76148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Geographic map visual — patient density by country/region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602736"/>
            <a:ext cx="4114800" cy="10972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694176"/>
            <a:ext cx="365760" cy="365760"/>
          </a:xfrm>
          <a:prstGeom prst="ellipse">
            <a:avLst/>
          </a:prstGeom>
          <a:solidFill>
            <a:srgbClr val="3FCFC1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FC1"/>
                </a:solidFill>
              </a:rPr>
              <a:t>Trend Line (YoY)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05993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Year-over-year line chart from 2015–2024 showing volume trends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602736"/>
            <a:ext cx="4114800" cy="109728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00600" y="3694176"/>
            <a:ext cx="365760" cy="365760"/>
          </a:xfrm>
          <a:prstGeom prst="ellipse">
            <a:avLst/>
          </a:prstGeom>
          <a:solidFill>
            <a:srgbClr val="3FCFC1"/>
          </a:solidFill>
          <a:ln/>
        </p:spPr>
      </p:sp>
      <p:sp>
        <p:nvSpPr>
          <p:cNvPr id="26" name="Text 24"/>
          <p:cNvSpPr/>
          <p:nvPr/>
        </p:nvSpPr>
        <p:spPr>
          <a:xfrm>
            <a:off x="5257800" y="36758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FC1"/>
                </a:solidFill>
              </a:rPr>
              <a:t>Lifestyle Factors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405993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7F8"/>
                </a:solidFill>
              </a:rPr>
              <a:t>Scatter / bar charts for obesity &amp; pollution impact on severity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📂 File: Global_cancer_patient_dashboard.pbix  |  Open in Power BI Desktop (free)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21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&amp; IMPACT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920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1920240" cy="13716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B6E70"/>
                </a:solidFill>
              </a:rPr>
              <a:t>50K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1828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Records Analyzed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1920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423160" y="960120"/>
            <a:ext cx="1920240" cy="137160"/>
          </a:xfrm>
          <a:prstGeom prst="rect">
            <a:avLst/>
          </a:prstGeom>
          <a:solidFill>
            <a:srgbClr val="E05C5C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05C5C"/>
                </a:solidFill>
              </a:rPr>
              <a:t>65%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23160" y="1828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Survival Drop St.IV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1920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960120"/>
            <a:ext cx="1920240" cy="13716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A623"/>
                </a:solidFill>
              </a:rPr>
              <a:t>$52K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0" y="1828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Avg Treatment Cost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960120"/>
            <a:ext cx="192024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20840" y="960120"/>
            <a:ext cx="1920240" cy="13716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9AA7"/>
                </a:solidFill>
              </a:rPr>
              <a:t>16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720840" y="1828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</a:rPr>
              <a:t>SQL Queries Written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24688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70"/>
                </a:solidFill>
              </a:rPr>
              <a:t> Business Value &amp; Applications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2668016"/>
            <a:ext cx="859536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</a:rPr>
              <a:t>Early detection focus: Stage 0–I patients show 3× better survival — supports investment in screening programs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</a:rPr>
              <a:t>Cost planning: Avg $52K treatment cost enables health insurers to forecast coverage requirements by region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</a:rPr>
              <a:t>Policy insight: Air pollution and obesity correlations can guide public health interventions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0D2137"/>
                </a:solidFill>
              </a:rPr>
              <a:t>Resource allocation: Countries with highest patient counts can prioritize oncology infrastructure investment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914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TECH STACK &amp; TOOLS USED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743200" cy="16916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1005840"/>
            <a:ext cx="2743200" cy="41148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Python 3.10+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481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9AA7"/>
                </a:solidFill>
              </a:rPr>
              <a:t>Core Language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7F8"/>
                </a:solidFill>
              </a:rPr>
              <a:t>Data manipulation, EDA, feature engineering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1005840"/>
            <a:ext cx="2743200" cy="16916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005840"/>
            <a:ext cx="2743200" cy="411480"/>
          </a:xfrm>
          <a:prstGeom prst="rect">
            <a:avLst/>
          </a:prstGeom>
          <a:solidFill>
            <a:srgbClr val="3FCFC1"/>
          </a:solidFill>
          <a:ln/>
        </p:spPr>
      </p:sp>
      <p:sp>
        <p:nvSpPr>
          <p:cNvPr id="11" name="Text 9"/>
          <p:cNvSpPr/>
          <p:nvPr/>
        </p:nvSpPr>
        <p:spPr>
          <a:xfrm>
            <a:off x="324612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Pandas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1481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FC1"/>
                </a:solidFill>
              </a:rPr>
              <a:t>Data Processing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46120" y="17373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7F8"/>
                </a:solidFill>
              </a:rPr>
              <a:t>read_csv, drop_duplicates, fillna, pd.cut, pd.qcut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80760" y="1005840"/>
            <a:ext cx="2743200" cy="16916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80760" y="1005840"/>
            <a:ext cx="2743200" cy="41148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6" name="Text 14"/>
          <p:cNvSpPr/>
          <p:nvPr/>
        </p:nvSpPr>
        <p:spPr>
          <a:xfrm>
            <a:off x="6172200" y="10058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Seaborn / Matplotlib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14813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</a:rPr>
              <a:t>Visualization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17373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7F8"/>
                </a:solidFill>
              </a:rPr>
              <a:t>Histograms, count plots, heatmaps, distribution charts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8600" y="2926080"/>
            <a:ext cx="2743200" cy="16916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8600" y="2926080"/>
            <a:ext cx="2743200" cy="411480"/>
          </a:xfrm>
          <a:prstGeom prst="rect">
            <a:avLst/>
          </a:prstGeom>
          <a:solidFill>
            <a:srgbClr val="0B6E70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2926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PostgreSQL / SQL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" y="34015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B6E70"/>
                </a:solidFill>
              </a:rPr>
              <a:t>Analytical Querying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0040" y="36576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7F8"/>
                </a:solidFill>
              </a:rPr>
              <a:t>GROUP BY, RANK(), subqueries, aggregations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154680" y="2926080"/>
            <a:ext cx="2743200" cy="16916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154680" y="2926080"/>
            <a:ext cx="2743200" cy="411480"/>
          </a:xfrm>
          <a:prstGeom prst="rect">
            <a:avLst/>
          </a:prstGeom>
          <a:solidFill>
            <a:srgbClr val="E05C5C"/>
          </a:solidFill>
          <a:ln/>
        </p:spPr>
      </p:sp>
      <p:sp>
        <p:nvSpPr>
          <p:cNvPr id="26" name="Text 24"/>
          <p:cNvSpPr/>
          <p:nvPr/>
        </p:nvSpPr>
        <p:spPr>
          <a:xfrm>
            <a:off x="3246120" y="2926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Power BI Desktop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46120" y="34015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05C5C"/>
                </a:solidFill>
              </a:rPr>
              <a:t>Business Intelligence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46120" y="36576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7F8"/>
                </a:solidFill>
              </a:rPr>
              <a:t>KPI cards, charts, map visuals, slicers, dashboard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80760" y="2926080"/>
            <a:ext cx="2743200" cy="169164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80760" y="2926080"/>
            <a:ext cx="2743200" cy="411480"/>
          </a:xfrm>
          <a:prstGeom prst="rect">
            <a:avLst/>
          </a:prstGeom>
          <a:solidFill>
            <a:srgbClr val="0E9AA7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2926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2137"/>
                </a:solidFill>
              </a:rPr>
              <a:t>Jupyter Notebook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34015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E9AA7"/>
                </a:solidFill>
              </a:rPr>
              <a:t>Development Env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72200" y="36576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7F8"/>
                </a:solidFill>
              </a:rPr>
              <a:t>Interactive Python environment for EDA and cleaning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FCFC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E9AA7"/>
                </a:solidFill>
              </a:rPr>
              <a:t>What was achieved :-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9566"/>
            <a:ext cx="5029200" cy="1737360"/>
          </a:xfrm>
          <a:prstGeom prst="rect">
            <a:avLst/>
          </a:prstGeom>
          <a:solidFill>
            <a:srgbClr val="0D2D3E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849630"/>
            <a:ext cx="4912360" cy="24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7F8"/>
                </a:solidFill>
              </a:rPr>
              <a:t>End-to-end project: raw data → clean → analyze → visualize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7F8"/>
                </a:solidFill>
              </a:rPr>
              <a:t>Python: cleaning + 5 engineered features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7F8"/>
                </a:solidFill>
              </a:rPr>
              <a:t>SQL: 16 queries incl. window functions &amp; subqueries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7F8"/>
                </a:solidFill>
              </a:rPr>
              <a:t>Power BI: interactive business dashboard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0F7F8"/>
                </a:solidFill>
              </a:rPr>
              <a:t>Identified key clinical and lifestyle risk factors</a:t>
            </a:r>
            <a:endParaRPr lang="en-US" sz="1200" dirty="0"/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Shape 9">
            <a:hlinkClick r:id="rId3"/>
          </p:cNvPr>
          <p:cNvSpPr/>
          <p:nvPr/>
        </p:nvSpPr>
        <p:spPr>
          <a:xfrm>
            <a:off x="274320" y="3298444"/>
            <a:ext cx="6132830" cy="886206"/>
          </a:xfrm>
          <a:prstGeom prst="rect">
            <a:avLst/>
          </a:prstGeom>
          <a:solidFill>
            <a:schemeClr val="bg2">
              <a:lumMod val="25000"/>
              <a:alpha val="70000"/>
            </a:schemeClr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457200" y="339674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 Full Project Available on GitHub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595497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7F8"/>
                </a:solidFill>
              </a:rPr>
              <a:t>Github.com : </a:t>
            </a:r>
            <a:r>
              <a:rPr lang="en-US" sz="1100" dirty="0">
                <a:solidFill>
                  <a:srgbClr val="F0F7F8"/>
                </a:solidFill>
                <a:hlinkClick r:id="rId3"/>
              </a:rPr>
              <a:t>https://github.com/KUMARabhishek2005/Global-Cancer-Patients-Analysis-2015-2024</a:t>
            </a:r>
            <a:endParaRPr lang="en-US" sz="1100" dirty="0">
              <a:solidFill>
                <a:srgbClr val="F0F7F8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900</Words>
  <Application>Microsoft Office PowerPoint</Application>
  <PresentationFormat>On-screen Show (16:9)</PresentationFormat>
  <Paragraphs>153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Cancer Patients Analysis 2015-2024</dc:title>
  <dc:subject>PptxGenJS Presentation</dc:subject>
  <dc:creator>Data Analyst</dc:creator>
  <cp:lastModifiedBy>Abhishek Kumar</cp:lastModifiedBy>
  <cp:revision>3</cp:revision>
  <dcterms:created xsi:type="dcterms:W3CDTF">2026-06-05T18:16:57Z</dcterms:created>
  <dcterms:modified xsi:type="dcterms:W3CDTF">2026-06-05T18:54:28Z</dcterms:modified>
</cp:coreProperties>
</file>